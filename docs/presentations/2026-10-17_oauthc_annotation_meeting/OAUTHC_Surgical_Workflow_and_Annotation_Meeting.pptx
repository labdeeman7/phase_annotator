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14B8DC"/>
                </a:solidFill>
                <a:latin typeface="Aptos"/>
              </a:rPr>
              <a:t>SURGICAL WORKFLOW • OAUTHC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040880" cy="1417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3600" b="1">
                <a:solidFill>
                  <a:srgbClr val="FAFCFD"/>
                </a:solidFill>
                <a:latin typeface="Aptos"/>
              </a:rPr>
              <a:t>Teaching AI what is
happening during surgery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667512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000" b="0">
                <a:solidFill>
                  <a:srgbClr val="BED3E0"/>
                </a:solidFill>
                <a:latin typeface="Aptos"/>
              </a:rPr>
              <a:t>Cholecystectomy phase annotation, domain shift and the TeCNO + HMM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731520"/>
            <a:ext cx="3520440" cy="5120640"/>
          </a:xfrm>
          <a:prstGeom prst="roundRect">
            <a:avLst/>
          </a:prstGeom>
          <a:solidFill>
            <a:srgbClr val="172C3E"/>
          </a:solidFill>
          <a:ln>
            <a:solidFill>
              <a:srgbClr val="2C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0" y="1143000"/>
            <a:ext cx="45720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47888" y="1161288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143000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Preparation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73936"/>
            <a:ext cx="45720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792224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773936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Calot triangle dissection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04872"/>
            <a:ext cx="45720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42316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404872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Clipping and cutting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35808"/>
            <a:ext cx="457200" cy="38404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054096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035808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Gallbladder dissection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66744"/>
            <a:ext cx="4572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3685031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666744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Gallbladder packaging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297679"/>
            <a:ext cx="457200" cy="38404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4315967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297679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Cleaning and coagulation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928615"/>
            <a:ext cx="457200" cy="384048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4946903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P7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928615"/>
            <a:ext cx="22402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0">
                <a:solidFill>
                  <a:srgbClr val="FAFCFD"/>
                </a:solidFill>
                <a:latin typeface="Aptos"/>
              </a:rPr>
              <a:t>Specimen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100" b="0">
                <a:solidFill>
                  <a:srgbClr val="99B5C6"/>
                </a:solidFill>
                <a:latin typeface="Aptos"/>
              </a:rPr>
              <a:t>OAUTHC annotation discussion • 17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14B8DC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3800" b="1">
                <a:solidFill>
                  <a:srgbClr val="FAFCFD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87552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300" b="0">
                <a:solidFill>
                  <a:srgbClr val="B4CFDE"/>
                </a:solidFill>
                <a:latin typeface="Aptos"/>
              </a:rPr>
              <a:t>What phase recognition is, why it can be useful, and where Cholec80 fits.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1828800" cy="82296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What we need to achieve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1691640"/>
          </a:xfrm>
          <a:prstGeom prst="roundRect">
            <a:avLst/>
          </a:prstGeom>
          <a:solidFill>
            <a:srgbClr val="EBF3F7"/>
          </a:solidFill>
          <a:ln>
            <a:solidFill>
              <a:srgbClr val="CC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801368"/>
            <a:ext cx="114300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819656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95144"/>
            <a:ext cx="452628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Why surgical workflow labels matter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508760"/>
            <a:ext cx="5074920" cy="1691640"/>
          </a:xfrm>
          <a:prstGeom prst="roundRect">
            <a:avLst/>
          </a:prstGeom>
          <a:solidFill>
            <a:srgbClr val="EBF3F7"/>
          </a:solidFill>
          <a:ln>
            <a:solidFill>
              <a:srgbClr val="CC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79" y="1801368"/>
            <a:ext cx="114300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7" y="1819656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AGREE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95144"/>
            <a:ext cx="452628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How we define difficult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5074920" cy="1691640"/>
          </a:xfrm>
          <a:prstGeom prst="roundRect">
            <a:avLst/>
          </a:prstGeom>
          <a:solidFill>
            <a:srgbClr val="EBF3F7"/>
          </a:solidFill>
          <a:ln>
            <a:solidFill>
              <a:srgbClr val="CC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3950208"/>
            <a:ext cx="114300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968496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PRACTISE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43984"/>
            <a:ext cx="452628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How to annotate, review and correct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657600"/>
            <a:ext cx="5074920" cy="1691640"/>
          </a:xfrm>
          <a:prstGeom prst="roundRect">
            <a:avLst/>
          </a:prstGeom>
          <a:solidFill>
            <a:srgbClr val="EBF3F7"/>
          </a:solidFill>
          <a:ln>
            <a:solidFill>
              <a:srgbClr val="CC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79" y="3950208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7" y="3968496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443984"/>
            <a:ext cx="452628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How 26 OAUTHC videos support an AI experiment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THE BASIC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An operation is also a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91440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576F7E"/>
                </a:solidFill>
                <a:latin typeface="Aptos"/>
              </a:rPr>
              <a:t>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1417320"/>
            <a:ext cx="1645920" cy="5669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490472"/>
            <a:ext cx="164592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417320"/>
            <a:ext cx="1965960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490472"/>
            <a:ext cx="196596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417320"/>
            <a:ext cx="1417320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9" y="1490472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399" y="1417320"/>
            <a:ext cx="1920240" cy="56692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399" y="1490472"/>
            <a:ext cx="192024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417320"/>
            <a:ext cx="1097280" cy="5669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490472"/>
            <a:ext cx="109728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19" y="1417320"/>
            <a:ext cx="1325880" cy="56692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46919" y="1490472"/>
            <a:ext cx="132588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799" y="1417320"/>
            <a:ext cx="1051560" cy="566928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799" y="1490472"/>
            <a:ext cx="105156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P7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057400"/>
            <a:ext cx="91440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100" b="0">
                <a:solidFill>
                  <a:srgbClr val="576F7E"/>
                </a:solidFill>
                <a:latin typeface="Aptos"/>
              </a:rPr>
              <a:t>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2057400"/>
            <a:ext cx="640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1100" b="0">
                <a:solidFill>
                  <a:srgbClr val="576F7E"/>
                </a:solidFill>
                <a:latin typeface="Aptos"/>
              </a:rPr>
              <a:t>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880360"/>
            <a:ext cx="27432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000" b="1">
                <a:solidFill>
                  <a:srgbClr val="0C1B2A"/>
                </a:solidFill>
                <a:latin typeface="Aptos"/>
              </a:rPr>
              <a:t>A phase answers: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429000"/>
            <a:ext cx="4709160" cy="123444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630168"/>
            <a:ext cx="416052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FAFCFD"/>
                </a:solidFill>
                <a:latin typeface="Aptos"/>
              </a:rPr>
              <a:t>“What is the dominant surgical objective at this time?”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880360"/>
            <a:ext cx="22860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000" b="1">
                <a:solidFill>
                  <a:srgbClr val="0C1B2A"/>
                </a:solidFill>
                <a:latin typeface="Aptos"/>
              </a:rPr>
              <a:t>Not simply: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429000"/>
            <a:ext cx="4709160" cy="1234440"/>
          </a:xfrm>
          <a:prstGeom prst="roundRect">
            <a:avLst/>
          </a:prstGeom>
          <a:solidFill>
            <a:srgbClr val="F9EBEB"/>
          </a:solidFill>
          <a:ln>
            <a:solidFill>
              <a:srgbClr val="F4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630168"/>
            <a:ext cx="388620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EF4444"/>
                </a:solidFill>
                <a:latin typeface="Aptos"/>
              </a:rPr>
              <a:t>“Which instrument can I see?”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57800"/>
            <a:ext cx="99669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14B8DC"/>
                </a:solidFill>
                <a:latin typeface="Aptos"/>
              </a:rPr>
              <a:t>The timeline turns a long video into clinically meaningful sections.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CLINICAL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Why recognise surgical workflow?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87168" cy="33375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08760" y="1828800"/>
            <a:ext cx="914400" cy="9144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2128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Aptos"/>
              </a:rPr>
              <a:t>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20440"/>
            <a:ext cx="2029968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0">
                <a:solidFill>
                  <a:srgbClr val="0C1B2A"/>
                </a:solidFill>
                <a:latin typeface="Aptos"/>
              </a:rPr>
              <a:t>Navigate directly to a phase in a long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508760"/>
            <a:ext cx="2487168" cy="33375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25112" y="1828800"/>
            <a:ext cx="914400" cy="9144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2971800"/>
            <a:ext cx="22128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ptos"/>
              </a:rPr>
              <a:t>TEACH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3520440"/>
            <a:ext cx="2029968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0">
                <a:solidFill>
                  <a:srgbClr val="0C1B2A"/>
                </a:solidFill>
                <a:latin typeface="Aptos"/>
              </a:rPr>
              <a:t>Retrieve comparable examples for training and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508760"/>
            <a:ext cx="2487168" cy="33375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41464" y="1828800"/>
            <a:ext cx="91440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2971800"/>
            <a:ext cx="22128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520440"/>
            <a:ext cx="2029968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0">
                <a:solidFill>
                  <a:srgbClr val="0C1B2A"/>
                </a:solidFill>
                <a:latin typeface="Aptos"/>
              </a:rPr>
              <a:t>Study phase duration, workflow and delays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1508760"/>
            <a:ext cx="2487168" cy="33375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957816" y="1828800"/>
            <a:ext cx="914400" cy="91440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17736" y="2971800"/>
            <a:ext cx="221284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Aptos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3520440"/>
            <a:ext cx="2029968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0">
                <a:solidFill>
                  <a:srgbClr val="0C1B2A"/>
                </a:solidFill>
                <a:latin typeface="Aptos"/>
              </a:rPr>
              <a:t>Give future AI systems the current surgical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5166360"/>
            <a:ext cx="9738360" cy="68580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294376"/>
            <a:ext cx="93726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100" b="1">
                <a:solidFill>
                  <a:srgbClr val="FAFCFD"/>
                </a:solidFill>
                <a:latin typeface="Aptos"/>
              </a:rPr>
              <a:t>Phase recognition is foundational context—not yet a clinical decision-maker.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Clinical applications: Hashimoto et al., Ann Surg 2022; Mascagni et al., npj Digit Med 2022.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BEYOND ONE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A practical clinical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46120" cy="416052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2606040" cy="1920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300" b="1">
                <a:solidFill>
                  <a:srgbClr val="FAFCFD"/>
                </a:solidFill>
                <a:latin typeface="Aptos"/>
              </a:rPr>
              <a:t>A trainee wants to review how difficult Calot dissections were approached across many long operations.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51960" y="2971800"/>
            <a:ext cx="731520" cy="411480"/>
          </a:xfrm>
          <a:prstGeom prst="rightArrow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57800" y="1325880"/>
            <a:ext cx="5715000" cy="1143000"/>
          </a:xfrm>
          <a:prstGeom prst="roundRect">
            <a:avLst/>
          </a:prstGeom>
          <a:solidFill>
            <a:srgbClr val="EBF3F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32120" y="1490472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Aptos"/>
              </a:rPr>
              <a:t>Without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453895"/>
            <a:ext cx="361188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0">
                <a:solidFill>
                  <a:srgbClr val="0C1B2A"/>
                </a:solidFill>
                <a:latin typeface="Aptos"/>
              </a:rPr>
              <a:t>Open every video and search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834639"/>
            <a:ext cx="5715000" cy="1143000"/>
          </a:xfrm>
          <a:prstGeom prst="roundRect">
            <a:avLst/>
          </a:prstGeom>
          <a:solidFill>
            <a:srgbClr val="EBF3F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2999232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Aptos"/>
              </a:rPr>
              <a:t>With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962656"/>
            <a:ext cx="361188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0">
                <a:solidFill>
                  <a:srgbClr val="0C1B2A"/>
                </a:solidFill>
                <a:latin typeface="Aptos"/>
              </a:rPr>
              <a:t>Retrieve relevant sections for teaching or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43400"/>
            <a:ext cx="5715000" cy="1143000"/>
          </a:xfrm>
          <a:prstGeom prst="roundRect">
            <a:avLst/>
          </a:prstGeom>
          <a:solidFill>
            <a:srgbClr val="EBF3F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4507992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ptos"/>
              </a:rPr>
              <a:t>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471416"/>
            <a:ext cx="361188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0">
                <a:solidFill>
                  <a:srgbClr val="0C1B2A"/>
                </a:solidFill>
                <a:latin typeface="Aptos"/>
              </a:rPr>
              <a:t>Give safety and decision-support research workflow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149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900" b="1">
                <a:solidFill>
                  <a:srgbClr val="14B8DC"/>
                </a:solidFill>
                <a:latin typeface="Aptos"/>
              </a:rPr>
              <a:t>The same principle applies to appendectomy, colorectal surgery and other procedures once their phases are defined.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THE BENCHMARK WE ARE COMPARING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What is Cholec80?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657600" cy="434340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274320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4800" b="1">
                <a:solidFill>
                  <a:srgbClr val="14B8DC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292608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300" b="1">
                <a:solidFill>
                  <a:srgbClr val="FAFCFD"/>
                </a:solidFill>
                <a:latin typeface="Aptos"/>
              </a:rPr>
              <a:t>laparoscopic cholecystectomy videos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292608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0">
                <a:solidFill>
                  <a:srgbClr val="BED3E0"/>
                </a:solidFill>
                <a:latin typeface="Aptos"/>
              </a:rPr>
              <a:t>Recorded in Strasbourg, France
and labelled with seven operative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508760"/>
            <a:ext cx="53035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500" b="1">
                <a:solidFill>
                  <a:srgbClr val="0C1B2A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19456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2A36"/>
                </a:solidFill>
                <a:latin typeface="Aptos"/>
              </a:defRPr>
            </a:pPr>
            <a:r>
              <a:t>•  it made surgical phase-recognition studies comparable</a:t>
            </a:r>
          </a:p>
          <a:p>
            <a:pPr>
              <a:spcAft>
                <a:spcPts val="1200"/>
              </a:spcAft>
              <a:defRPr sz="2000">
                <a:solidFill>
                  <a:srgbClr val="1A2A36"/>
                </a:solidFill>
                <a:latin typeface="Aptos"/>
              </a:defRPr>
            </a:pPr>
            <a:r>
              <a:t>•  many influential models were trained or evaluated on it</a:t>
            </a:r>
          </a:p>
          <a:p>
            <a:pPr>
              <a:spcAft>
                <a:spcPts val="1200"/>
              </a:spcAft>
              <a:defRPr sz="2000">
                <a:solidFill>
                  <a:srgbClr val="1A2A36"/>
                </a:solidFill>
                <a:latin typeface="Aptos"/>
              </a:defRPr>
            </a:pPr>
            <a:r>
              <a:t>•  its seven-phase convention gives us a useful reference</a:t>
            </a:r>
          </a:p>
          <a:p>
            <a:pPr>
              <a:spcAft>
                <a:spcPts val="1200"/>
              </a:spcAft>
              <a:defRPr sz="2000">
                <a:solidFill>
                  <a:srgbClr val="1A2A36"/>
                </a:solidFill>
                <a:latin typeface="Aptos"/>
              </a:defRPr>
            </a:pPr>
            <a:r>
              <a:t>•  it does not represent every hospital, patient or difficult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5458968"/>
            <a:ext cx="5852160" cy="731520"/>
          </a:xfrm>
          <a:prstGeom prst="roundRect">
            <a:avLst/>
          </a:prstGeom>
          <a:solidFill>
            <a:srgbClr val="FFF6D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5605272"/>
            <a:ext cx="53949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70000" lnSpcReduction="20000"/>
          </a:bodyPr>
          <a:lstStyle/>
          <a:p>
            <a:pPr algn="ctr"/>
            <a:r>
              <a:rPr sz="1700" b="1" dirty="0">
                <a:solidFill>
                  <a:srgbClr val="7E5300"/>
                </a:solidFill>
                <a:latin typeface="Aptos"/>
              </a:rPr>
              <a:t>Our aim is comparison and transfer—not to treat Cholec80 as the only clinically valid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Twinanda et al., IEEE TMI 2017. Cholec80 was collected at University Hospital of Strasbourg.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WHY LOCAL DATA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Public benchmarks are cleaner than real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51520" y="1499616"/>
            <a:ext cx="3840480" cy="4389120"/>
          </a:xfrm>
          <a:prstGeom prst="roundRect">
            <a:avLst/>
          </a:prstGeom>
          <a:solidFill>
            <a:srgbClr val="EBF3F7"/>
          </a:solidFill>
          <a:ln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1819656"/>
            <a:ext cx="32004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2200" b="1" dirty="0">
                <a:solidFill>
                  <a:srgbClr val="0C1B2A"/>
                </a:solidFill>
                <a:latin typeface="Aptos"/>
              </a:rPr>
              <a:t>What this figure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0120" y="2414016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A36"/>
                </a:solidFill>
                <a:latin typeface="Aptos"/>
              </a:defRPr>
            </a:pPr>
            <a:r>
              <a:t>•  phase lengths vary substantially</a:t>
            </a:r>
          </a:p>
          <a:p>
            <a:pPr>
              <a:spcAft>
                <a:spcPts val="1200"/>
              </a:spcAft>
              <a:defRPr sz="1800">
                <a:solidFill>
                  <a:srgbClr val="1A2A36"/>
                </a:solidFill>
                <a:latin typeface="Aptos"/>
              </a:defRPr>
            </a:pPr>
            <a:r>
              <a:t>•  phases may repeat or occur out of order</a:t>
            </a:r>
          </a:p>
          <a:p>
            <a:pPr>
              <a:spcAft>
                <a:spcPts val="1200"/>
              </a:spcAft>
              <a:defRPr sz="1800">
                <a:solidFill>
                  <a:srgbClr val="1A2A36"/>
                </a:solidFill>
                <a:latin typeface="Aptos"/>
              </a:defRPr>
            </a:pPr>
            <a:r>
              <a:t>•  additional real-world activities appear</a:t>
            </a:r>
          </a:p>
          <a:p>
            <a:pPr>
              <a:spcAft>
                <a:spcPts val="1200"/>
              </a:spcAft>
              <a:defRPr sz="1800">
                <a:solidFill>
                  <a:srgbClr val="1A2A36"/>
                </a:solidFill>
                <a:latin typeface="Aptos"/>
              </a:defRPr>
            </a:pPr>
            <a:r>
              <a:t>•  one linear workflow cannot represent every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5157216"/>
            <a:ext cx="32004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77500" lnSpcReduction="20000"/>
          </a:bodyPr>
          <a:lstStyle/>
          <a:p>
            <a:pPr algn="ctr"/>
            <a:r>
              <a:rPr sz="1600" b="1">
                <a:solidFill>
                  <a:srgbClr val="14B8DC"/>
                </a:solidFill>
                <a:latin typeface="Aptos"/>
              </a:rPr>
              <a:t>Cholec80 is an influential benchmark—not a universal clinical standard.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Figure 1: Ramesh et al., Surgical Phase Recognition: From Public Datasets to Real-World Data, Appl Sci 2022 (CC BY 4.0).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C68E1A-7648-9F0A-A387-3611B82C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7652"/>
            <a:ext cx="8415724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DOMAIN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The same phases can have different durations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al_world_phase_du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5" y="1593898"/>
            <a:ext cx="8314943" cy="4684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80120" y="1811160"/>
            <a:ext cx="3611880" cy="416052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00160" y="2176920"/>
            <a:ext cx="292608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ctr"/>
            <a:r>
              <a:rPr sz="2200" b="1">
                <a:solidFill>
                  <a:srgbClr val="14B8DC"/>
                </a:solidFill>
                <a:latin typeface="Aptos"/>
              </a:rPr>
              <a:t>Real-world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879" y="2908440"/>
            <a:ext cx="283464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ctr"/>
            <a:r>
              <a:rPr sz="1600" b="0">
                <a:solidFill>
                  <a:srgbClr val="B8CFDD"/>
                </a:solidFill>
                <a:latin typeface="Aptos"/>
              </a:rPr>
              <a:t>Median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5879" y="3228480"/>
            <a:ext cx="283464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3600" b="1">
                <a:solidFill>
                  <a:srgbClr val="FAFCFD"/>
                </a:solidFill>
                <a:latin typeface="Aptos"/>
              </a:rPr>
              <a:t>54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5879" y="4097159"/>
            <a:ext cx="28346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0">
                <a:solidFill>
                  <a:srgbClr val="FAFCFD"/>
                </a:solidFill>
                <a:latin typeface="Aptos"/>
              </a:rPr>
              <a:t>Cholec80 median: 34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879" y="4782960"/>
            <a:ext cx="283464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lnSpcReduction="10000"/>
          </a:bodyPr>
          <a:lstStyle/>
          <a:p>
            <a:pPr algn="ctr"/>
            <a:r>
              <a:rPr sz="1600" b="0">
                <a:solidFill>
                  <a:srgbClr val="B8CFDD"/>
                </a:solidFill>
                <a:latin typeface="Aptos"/>
              </a:rPr>
              <a:t>Different duration distributions change the temporal patterns a model sees.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Figure 3 and reported medians: Ramesh et al., Appl Sci 2022 (CC BY 4.0).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PUBLISHED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Greater case complexity can reduce AI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6766560" cy="4160520"/>
          </a:xfrm>
          <a:prstGeom prst="roundRect">
            <a:avLst/>
          </a:prstGeom>
          <a:solidFill>
            <a:srgbClr val="F7FAFC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08760" y="2523744"/>
            <a:ext cx="274320" cy="241401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39" y="2203704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1" y="2523744"/>
            <a:ext cx="274320" cy="24140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10511" y="2203704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010912"/>
            <a:ext cx="640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76F7E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633472"/>
            <a:ext cx="274320" cy="230428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2313432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2743200"/>
            <a:ext cx="274320" cy="2194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2423160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010912"/>
            <a:ext cx="640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76F7E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852928"/>
            <a:ext cx="274320" cy="20848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40" y="2532888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2232" y="2962656"/>
            <a:ext cx="274320" cy="197510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96512" y="2642616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010912"/>
            <a:ext cx="640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76F7E"/>
                </a:solidFill>
                <a:latin typeface="Apto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743200"/>
            <a:ext cx="274320" cy="21945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423160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5232" y="3730752"/>
            <a:ext cx="274320" cy="1207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9512" y="3410712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010912"/>
            <a:ext cx="640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76F7E"/>
                </a:solidFill>
                <a:latin typeface="Aptos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743200"/>
            <a:ext cx="274320" cy="21945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423160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8232" y="3730752"/>
            <a:ext cx="274320" cy="1207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3410712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010912"/>
            <a:ext cx="640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76F7E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321808"/>
            <a:ext cx="25603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300" b="0">
                <a:solidFill>
                  <a:srgbClr val="576F7E"/>
                </a:solidFill>
                <a:latin typeface="Aptos"/>
              </a:rPr>
              <a:t>Complexity level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1737360"/>
            <a:ext cx="256032" cy="25603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1700784"/>
            <a:ext cx="146304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100" b="0">
                <a:solidFill>
                  <a:srgbClr val="576F7E"/>
                </a:solidFill>
                <a:latin typeface="Aptos"/>
              </a:rPr>
              <a:t>Surgeon agreement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1737360"/>
            <a:ext cx="256032" cy="2560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1700784"/>
            <a:ext cx="1097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100" b="0">
                <a:solidFill>
                  <a:srgbClr val="576F7E"/>
                </a:solidFill>
                <a:latin typeface="Aptos"/>
              </a:rPr>
              <a:t>AI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1508760"/>
            <a:ext cx="3474720" cy="416052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9" y="1874519"/>
            <a:ext cx="29260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3400" b="1">
                <a:solidFill>
                  <a:srgbClr val="FAFCFD"/>
                </a:solidFill>
                <a:latin typeface="Aptos"/>
              </a:rPr>
              <a:t>92% → 81%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697480"/>
            <a:ext cx="2651760" cy="8229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900" b="0">
                <a:solidFill>
                  <a:srgbClr val="FAFCFD"/>
                </a:solidFill>
                <a:latin typeface="Aptos"/>
              </a:rPr>
              <a:t>AI accuracy fell as operative complexity increased.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94760"/>
            <a:ext cx="265176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0">
                <a:solidFill>
                  <a:srgbClr val="BED3E0"/>
                </a:solidFill>
                <a:latin typeface="Aptos"/>
              </a:rPr>
              <a:t>At the highest complexity, surgeon agreement remained about 90%.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Redrawn from Figure 3A: Golany et al., Surg Endosc 2022, DOI 10.1007/s00464-022-09405-5 (CC BY 4.0).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THE 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Domain shift: the deployment data are not the training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60020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645920"/>
            <a:ext cx="114300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664208"/>
            <a:ext cx="1097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315468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0C1B2A"/>
                </a:solidFill>
                <a:latin typeface="Aptos"/>
              </a:rPr>
              <a:t>Inflammation, adhesions, anatomy and disease severity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074920" cy="160020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114300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664208"/>
            <a:ext cx="1097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673352"/>
            <a:ext cx="315468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0C1B2A"/>
                </a:solidFill>
                <a:latin typeface="Aptos"/>
              </a:rPr>
              <a:t>Technique, instruments, workflow and interruptions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74920" cy="160020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3703320"/>
            <a:ext cx="114300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721608"/>
            <a:ext cx="1097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IMAGING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730752"/>
            <a:ext cx="315468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0C1B2A"/>
                </a:solidFill>
                <a:latin typeface="Aptos"/>
              </a:rPr>
              <a:t>Camera, resolution, smoke, lighting and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74720"/>
            <a:ext cx="5074920" cy="160020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0" y="3703320"/>
            <a:ext cx="114300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3721608"/>
            <a:ext cx="1097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AFCFD"/>
                </a:solidFill>
                <a:latin typeface="Aptos"/>
              </a:rPr>
              <a:t>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730752"/>
            <a:ext cx="315468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0C1B2A"/>
                </a:solidFill>
                <a:latin typeface="Aptos"/>
              </a:rPr>
              <a:t>The same phase name may use a different boundary rule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5532120"/>
            <a:ext cx="9509760" cy="566928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5614416"/>
            <a:ext cx="914400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900" b="1">
                <a:solidFill>
                  <a:srgbClr val="FAFCFD"/>
                </a:solidFill>
                <a:latin typeface="Aptos"/>
              </a:rPr>
              <a:t>A model can fail because the video looks different—or because “correct” is defined differently.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14B8DC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3800" b="1">
                <a:solidFill>
                  <a:srgbClr val="FAFCFD"/>
                </a:solidFill>
                <a:latin typeface="Aptos"/>
              </a:rPr>
              <a:t>Decisions for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87552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300" b="0">
                <a:solidFill>
                  <a:srgbClr val="B4CFDE"/>
                </a:solidFill>
                <a:latin typeface="Aptos"/>
              </a:rPr>
              <a:t>Agree what the phases mean before asking people—or AI—to reproduce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1828800" cy="82296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CLINICAL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What the first two OAUTHC annotations revealed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389120"/>
          </a:xfrm>
          <a:prstGeom prst="roundRect">
            <a:avLst/>
          </a:prstGeom>
          <a:solidFill>
            <a:srgbClr val="ECF4FE"/>
          </a:solidFill>
          <a:ln>
            <a:solidFill>
              <a:srgbClr val="B4C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3891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Aptos"/>
              </a:rPr>
              <a:t>Cholec80-style visual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11480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300" b="0">
                <a:solidFill>
                  <a:srgbClr val="0C1B2A"/>
                </a:solidFill>
                <a:latin typeface="Aptos"/>
              </a:rPr>
              <a:t>Hook appearance/use is often close to the P1 → P2 transition.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3703320"/>
            <a:ext cx="640080" cy="365760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3749039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P2 may begin earlier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E8F8F3"/>
          </a:solidFill>
          <a:ln>
            <a:solidFill>
              <a:srgbClr val="A9D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691640"/>
            <a:ext cx="43891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ptos"/>
              </a:rPr>
              <a:t>OAUTHC task-based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331720"/>
            <a:ext cx="4206240" cy="1325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100" b="0">
                <a:solidFill>
                  <a:srgbClr val="0C1B2A"/>
                </a:solidFill>
                <a:latin typeface="Aptos"/>
              </a:rPr>
              <a:t>Hook use for adhesiolysis and exposure remains Preparation until focused Calot dissection begins.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49640" y="3703320"/>
            <a:ext cx="640080" cy="36576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4251960"/>
            <a:ext cx="39319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Longer P1 in difficult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61888"/>
            <a:ext cx="99669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1">
                <a:solidFill>
                  <a:srgbClr val="0C1B2A"/>
                </a:solidFill>
                <a:latin typeface="Aptos"/>
              </a:rPr>
              <a:t>Dr Olugbami: extensive pericholecystic adhesions require adhesiolysis before access to Calot’s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VIDEO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Compare the boundary in two real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0482"/>
            <a:ext cx="46634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 dirty="0">
                <a:solidFill>
                  <a:srgbClr val="3B82F6"/>
                </a:solidFill>
                <a:latin typeface="Aptos"/>
              </a:rPr>
              <a:t>CHOLEC80-STYLE VISUAL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66410"/>
            <a:ext cx="457200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 dirty="0">
                <a:solidFill>
                  <a:schemeClr val="tx2"/>
                </a:solidFill>
                <a:latin typeface="Aptos"/>
              </a:rPr>
              <a:t>V04-B01: Preparation → Calot triangle dissection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990338"/>
            <a:ext cx="448056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lnSpcReduction="10000"/>
          </a:bodyPr>
          <a:lstStyle/>
          <a:p>
            <a:pPr algn="ctr"/>
            <a:r>
              <a:rPr sz="1600" b="0" dirty="0">
                <a:solidFill>
                  <a:schemeClr val="tx2"/>
                </a:solidFill>
                <a:latin typeface="Aptos"/>
              </a:rPr>
              <a:t>Watch when the hook appears and begins to be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37360"/>
            <a:ext cx="46634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 dirty="0">
                <a:solidFill>
                  <a:srgbClr val="10B981"/>
                </a:solidFill>
                <a:latin typeface="Aptos"/>
              </a:rPr>
              <a:t>OAUTHC TASK-BASED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749039"/>
            <a:ext cx="457200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FAFCFD"/>
                </a:solidFill>
                <a:latin typeface="Aptos"/>
              </a:rPr>
              <a:t>LOCAL-01-B01: Preparation → Calot triangle dissection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9148" y="4906753"/>
            <a:ext cx="448056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lnSpcReduction="10000"/>
          </a:bodyPr>
          <a:lstStyle/>
          <a:p>
            <a:pPr algn="ctr"/>
            <a:r>
              <a:rPr sz="1600" b="0" dirty="0">
                <a:solidFill>
                  <a:srgbClr val="00B050"/>
                </a:solidFill>
                <a:latin typeface="Aptos"/>
              </a:rPr>
              <a:t>Watch for the sustained change in operative objective.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15</a:t>
            </a:r>
          </a:p>
        </p:txBody>
      </p:sp>
      <p:pic>
        <p:nvPicPr>
          <p:cNvPr id="15" name="V04-B01_P1-preparation_to_P2-calot-triangle-dissection">
            <a:hlinkClick r:id="" action="ppaction://media"/>
            <a:extLst>
              <a:ext uri="{FF2B5EF4-FFF2-40B4-BE49-F238E27FC236}">
                <a16:creationId xmlns:a16="http://schemas.microsoft.com/office/drawing/2014/main" id="{A8759DD4-3ACC-1820-B951-70C7B8360F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11720" y="1981962"/>
            <a:ext cx="4977600" cy="2820924"/>
          </a:xfrm>
          <a:prstGeom prst="rect">
            <a:avLst/>
          </a:prstGeom>
        </p:spPr>
      </p:pic>
      <p:pic>
        <p:nvPicPr>
          <p:cNvPr id="17" name="LOCAL-01-B01_P1-preparation_to_P2-calot-triangle-dissection">
            <a:hlinkClick r:id="" action="ppaction://media"/>
            <a:extLst>
              <a:ext uri="{FF2B5EF4-FFF2-40B4-BE49-F238E27FC236}">
                <a16:creationId xmlns:a16="http://schemas.microsoft.com/office/drawing/2014/main" id="{5A47D9FF-68F8-A405-2BB6-84086955E1D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60920" y="2060934"/>
            <a:ext cx="3557016" cy="28458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DECISION FOR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Draft rule: Preparation → Calot triangle dissection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52760" cy="1024128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1010412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100" b="1">
                <a:solidFill>
                  <a:srgbClr val="FAFCFD"/>
                </a:solidFill>
                <a:latin typeface="Aptos"/>
              </a:rPr>
              <a:t>Instrument appearance alone does not determine the phase. P2 begins when focused dissection of the hepatocystic triangle becomes the sustained operative objective.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5074920" cy="2606040"/>
          </a:xfrm>
          <a:prstGeom prst="roundRect">
            <a:avLst/>
          </a:prstGeom>
          <a:solidFill>
            <a:srgbClr val="EDF4FE"/>
          </a:solidFill>
          <a:ln>
            <a:solidFill>
              <a:srgbClr val="B4C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434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REMAIN IN 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4343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adhesiolysis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general exposure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clearing fat/inflammatory tissue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hook use outside focused Calot dissection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743200"/>
            <a:ext cx="5074920" cy="2606040"/>
          </a:xfrm>
          <a:prstGeom prst="roundRect">
            <a:avLst/>
          </a:prstGeom>
          <a:solidFill>
            <a:srgbClr val="E8F8F3"/>
          </a:solidFill>
          <a:ln>
            <a:solidFill>
              <a:srgbClr val="A9D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434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BEGIN 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0440"/>
            <a:ext cx="4343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sustained work in the hepatocystic triangle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purposeful exposure of cystic structures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clear change from general exposure to Calot-specific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852160"/>
            <a:ext cx="99212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14B8DC"/>
                </a:solidFill>
                <a:latin typeface="Aptos"/>
              </a:rPr>
              <a:t>Two videos suggest the pattern. The wider 26-video collection will show whether it recurs.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DR OLUGBAMI'S CONCERN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Long inactive periods: preserve first, analyse separately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1089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Aptos"/>
              </a:rPr>
              <a:t>The concern is valid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566160" cy="10515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000" b="0">
                <a:solidFill>
                  <a:srgbClr val="0C1B2A"/>
                </a:solidFill>
                <a:latin typeface="Aptos"/>
              </a:rPr>
              <a:t>Searching for clips or resolving an issue outside the field is different from a brief pause.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417320"/>
            <a:ext cx="31089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Aptos"/>
              </a:rPr>
              <a:t>Why not delete it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46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changes timestamps and durations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hides a real deployment condition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may inflate model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removes information about workflow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31089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ptos"/>
              </a:rPr>
              <a:t>Draft seven-phase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74519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context clear → continue current phase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unclassifiable/out of body → Undefined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do not guess an invisible cause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flag important long delay in a note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983480"/>
            <a:ext cx="10332720" cy="82296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5175504"/>
            <a:ext cx="969264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100" b="1">
                <a:solidFill>
                  <a:srgbClr val="FAFCFD"/>
                </a:solidFill>
                <a:latin typeface="Aptos"/>
              </a:rPr>
              <a:t>We can add an auxiliary idle analysis later without changing the seven primary phases.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989320"/>
            <a:ext cx="992124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76F7E"/>
                </a:solidFill>
                <a:latin typeface="Aptos"/>
              </a:rPr>
              <a:t>Published complex-LC work has used separate idle and out-of-body states; this is a valid but different annotation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Idle/out-of-body precedent: Golany et al., Surg Endosc 2022, DOI 10.1007/s00464-022-09405-5.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14B8DC"/>
                </a:solidFill>
                <a:latin typeface="Apto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3800" b="1">
                <a:solidFill>
                  <a:srgbClr val="FAFCFD"/>
                </a:solidFill>
                <a:latin typeface="Aptos"/>
              </a:rPr>
              <a:t>The annotation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87552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300" b="0">
                <a:solidFill>
                  <a:srgbClr val="B4CFDE"/>
                </a:solidFill>
                <a:latin typeface="Aptos"/>
              </a:rPr>
              <a:t>Use the improved Phase Annotator to label, review and correct each complete timeline.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1828800" cy="82296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IMPROVED SINCE THE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The Phase Annotator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hase_annotator_main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24712"/>
            <a:ext cx="7916672" cy="4453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532120"/>
            <a:ext cx="2331720" cy="43891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5577840"/>
            <a:ext cx="2240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AFCFD"/>
                </a:solidFill>
                <a:latin typeface="Aptos"/>
              </a:rPr>
              <a:t>Video + timeline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5532120"/>
            <a:ext cx="2331720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5577840"/>
            <a:ext cx="2240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AFCFD"/>
                </a:solidFill>
                <a:latin typeface="Aptos"/>
              </a:rPr>
              <a:t>Phase choices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5532120"/>
            <a:ext cx="2331720" cy="43891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5577840"/>
            <a:ext cx="2240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AFCFD"/>
                </a:solidFill>
                <a:latin typeface="Aptos"/>
              </a:rPr>
              <a:t>Segments to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5532120"/>
            <a:ext cx="2331720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5577840"/>
            <a:ext cx="2240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300" b="1" dirty="0">
                <a:solidFill>
                  <a:srgbClr val="FAFCFD"/>
                </a:solidFill>
                <a:latin typeface="Aptos"/>
              </a:rPr>
              <a:t>Playback + corrections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8076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0C1B2A"/>
                </a:solidFill>
                <a:latin typeface="Aptos"/>
              </a:rPr>
              <a:t>The updated application and training materials will be resent after this meeting. The full user guide remains the reference.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How Phase Annotator supports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5087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594360" cy="5943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5486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45920"/>
            <a:ext cx="210312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0C1B2A"/>
                </a:solidFill>
                <a:latin typeface="Aptos"/>
              </a:rPr>
              <a:t>Select Cholecystectomy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417320"/>
            <a:ext cx="3429000" cy="15087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36592" y="1737360"/>
            <a:ext cx="594360" cy="5943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755648"/>
            <a:ext cx="5486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1" y="1645920"/>
            <a:ext cx="210312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0C1B2A"/>
                </a:solidFill>
                <a:latin typeface="Aptos"/>
              </a:rPr>
              <a:t>Open the de-identified video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0183" y="1417320"/>
            <a:ext cx="3429000" cy="15087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58784" y="1737360"/>
            <a:ext cx="594360" cy="5943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7072" y="1755648"/>
            <a:ext cx="5486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1645920"/>
            <a:ext cx="210312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0C1B2A"/>
                </a:solidFill>
                <a:latin typeface="Aptos"/>
              </a:rPr>
              <a:t>Label with hotkeys or phase buttons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429000" cy="15087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3794759"/>
            <a:ext cx="594360" cy="59436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13048"/>
            <a:ext cx="5486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03320"/>
            <a:ext cx="210312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0C1B2A"/>
                </a:solidFill>
                <a:latin typeface="Aptos"/>
              </a:rPr>
              <a:t>Correct boundaries and notes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3474720"/>
            <a:ext cx="3429000" cy="15087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36592" y="3794759"/>
            <a:ext cx="594360" cy="59436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3813048"/>
            <a:ext cx="5486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3703320"/>
            <a:ext cx="210312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0C1B2A"/>
                </a:solidFill>
                <a:latin typeface="Aptos"/>
              </a:rPr>
              <a:t>Review the complete timeline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3474720"/>
            <a:ext cx="3429000" cy="1508760"/>
          </a:xfrm>
          <a:prstGeom prst="roundRect">
            <a:avLst/>
          </a:prstGeom>
          <a:solidFill>
            <a:srgbClr val="EBF3F7"/>
          </a:solidFill>
          <a:ln>
            <a:solidFill>
              <a:srgbClr val="CD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58784" y="3794759"/>
            <a:ext cx="594360" cy="59436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77072" y="3813048"/>
            <a:ext cx="5486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3703320"/>
            <a:ext cx="210312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700" b="1">
                <a:solidFill>
                  <a:srgbClr val="0C1B2A"/>
                </a:solidFill>
                <a:latin typeface="Aptos"/>
              </a:rPr>
              <a:t>Mark Completed and return 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715000"/>
            <a:ext cx="1024128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14B8DC"/>
                </a:solidFill>
                <a:latin typeface="Aptos"/>
              </a:rPr>
              <a:t>LIVE: create one boundary → move it → add a note → undo → reopen the saved annotation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Annotation is a team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343400"/>
          </a:xfrm>
          <a:prstGeom prst="roundRect">
            <a:avLst/>
          </a:prstGeom>
          <a:solidFill>
            <a:srgbClr val="EBF3F7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25880" y="1737360"/>
            <a:ext cx="2057400" cy="43891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20025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1460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first annotate the same five cases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then split assigned full timelines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follow the draft rules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note uncertainty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429000" cy="4343400"/>
          </a:xfrm>
          <a:prstGeom prst="roundRect">
            <a:avLst/>
          </a:prstGeom>
          <a:solidFill>
            <a:srgbClr val="EBF3F7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6360" y="1737360"/>
            <a:ext cx="2057400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1773936"/>
            <a:ext cx="20025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DR OLUGBAMI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51460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annotate and correct cases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review the shared five cases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teach difficult transitions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review disagreements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429000" cy="4343400"/>
          </a:xfrm>
          <a:prstGeom prst="roundRect">
            <a:avLst/>
          </a:prstGeom>
          <a:solidFill>
            <a:srgbClr val="EBF3F7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06840" y="1737360"/>
            <a:ext cx="2057400" cy="43891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4272" y="1773936"/>
            <a:ext cx="20025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TOSIN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51460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prepare de-identified videos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support the software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check each returned batch</a:t>
            </a:r>
          </a:p>
          <a:p>
            <a:pPr>
              <a:spcAft>
                <a:spcPts val="1200"/>
              </a:spcAft>
              <a:defRPr sz="1600">
                <a:solidFill>
                  <a:srgbClr val="1A2A36"/>
                </a:solidFill>
                <a:latin typeface="Aptos"/>
              </a:defRPr>
            </a:pPr>
            <a:r>
              <a:t>•  measure agreement and run the AI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989320"/>
            <a:ext cx="1005840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0C1B2A"/>
                </a:solidFill>
                <a:latin typeface="Aptos"/>
              </a:rPr>
              <a:t>Clinical review is part of annotation—not an afterthought.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STAGED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How the 26 videos will be annotated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74720" cy="4389120"/>
          </a:xfrm>
          <a:prstGeom prst="roundRect">
            <a:avLst/>
          </a:prstGeom>
          <a:solidFill>
            <a:srgbClr val="EBF3F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246888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746504"/>
            <a:ext cx="237744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FIRST: 5 SHARED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23160"/>
            <a:ext cx="278892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0C1B2A"/>
                </a:solidFill>
                <a:latin typeface="Aptos"/>
              </a:rPr>
              <a:t>Both annotators label the same five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794760"/>
            <a:ext cx="2724912" cy="1143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0">
                <a:solidFill>
                  <a:srgbClr val="576F7E"/>
                </a:solidFill>
                <a:latin typeface="Aptos"/>
              </a:rPr>
              <a:t>We measure inter-rater variability: where two informed people agree or differ.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371600"/>
            <a:ext cx="3474720" cy="4389120"/>
          </a:xfrm>
          <a:prstGeom prst="roundRect">
            <a:avLst/>
          </a:prstGeom>
          <a:solidFill>
            <a:srgbClr val="EBF3F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56048" y="1691640"/>
            <a:ext cx="246888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01768" y="1746504"/>
            <a:ext cx="237744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NEXT: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23160"/>
            <a:ext cx="278892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0C1B2A"/>
                </a:solidFill>
                <a:latin typeface="Aptos"/>
              </a:rPr>
              <a:t>After reviewing the shared five, divide the next 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3794760"/>
            <a:ext cx="2724912" cy="1143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0">
                <a:solidFill>
                  <a:srgbClr val="576F7E"/>
                </a:solidFill>
                <a:latin typeface="Aptos"/>
              </a:rPr>
              <a:t>Return this batch promptly so Tosin can check the files while annotation continues.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1371600"/>
            <a:ext cx="3474720" cy="4389120"/>
          </a:xfrm>
          <a:prstGeom prst="roundRect">
            <a:avLst/>
          </a:prstGeom>
          <a:solidFill>
            <a:srgbClr val="EBF3F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14816" y="1691640"/>
            <a:ext cx="2468880" cy="45720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0536" y="1746504"/>
            <a:ext cx="237744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400" b="1">
                <a:solidFill>
                  <a:srgbClr val="FAFCFD"/>
                </a:solidFill>
                <a:latin typeface="Aptos"/>
              </a:rPr>
              <a:t>THEN: 10 + 6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2423160"/>
            <a:ext cx="278892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0C1B2A"/>
                </a:solidFill>
                <a:latin typeface="Aptos"/>
              </a:rPr>
              <a:t>Send the remaining videos in two manageable batches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3794760"/>
            <a:ext cx="2724912" cy="11430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0">
                <a:solidFill>
                  <a:srgbClr val="576F7E"/>
                </a:solidFill>
                <a:latin typeface="Aptos"/>
              </a:rPr>
              <a:t>The two annotators split the work rather than each repeating all 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14B8DC"/>
                </a:solidFill>
                <a:latin typeface="Aptos"/>
              </a:rPr>
              <a:t>Goal: annotate all 26 available cholecystectomy videos. The first experiment may use 15 or 20 to keep the initial analysis simple.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14B8DC"/>
                </a:solidFill>
                <a:latin typeface="Apto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3800" b="1">
                <a:solidFill>
                  <a:srgbClr val="FAFCFD"/>
                </a:solidFill>
                <a:latin typeface="Aptos"/>
              </a:rPr>
              <a:t>From annotation to an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87552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300" b="0">
                <a:solidFill>
                  <a:srgbClr val="B4CFDE"/>
                </a:solidFill>
                <a:latin typeface="Aptos"/>
              </a:rPr>
              <a:t>Test whether a model learned elsewhere understands OAUTHC operations—and whether explicit workflow knowledge helps.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1828800" cy="82296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FROM LABELS 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The first AI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331720" cy="1920240"/>
          </a:xfrm>
          <a:prstGeom prst="roundRect">
            <a:avLst/>
          </a:prstGeom>
          <a:solidFill>
            <a:srgbClr val="EBF3F7"/>
          </a:solidFill>
          <a:ln>
            <a:solidFill>
              <a:srgbClr val="CB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34440" y="2148840"/>
            <a:ext cx="1143000" cy="43891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2185416"/>
            <a:ext cx="10881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Cholec80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874519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0C1B2A"/>
                </a:solidFill>
                <a:latin typeface="Aptos"/>
              </a:rPr>
              <a:t>Public training benchmark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7248" y="2633472"/>
            <a:ext cx="502920" cy="347472"/>
          </a:xfrm>
          <a:prstGeom prst="rightArrow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20439" y="1874519"/>
            <a:ext cx="2331720" cy="1920240"/>
          </a:xfrm>
          <a:prstGeom prst="roundRect">
            <a:avLst/>
          </a:prstGeom>
          <a:solidFill>
            <a:srgbClr val="EBF3F7"/>
          </a:solidFill>
          <a:ln>
            <a:solidFill>
              <a:srgbClr val="CB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0" y="2148840"/>
            <a:ext cx="1143000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42231" y="2185416"/>
            <a:ext cx="10881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TeCNO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88920"/>
            <a:ext cx="1874519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0C1B2A"/>
                </a:solidFill>
                <a:latin typeface="Aptos"/>
              </a:rPr>
              <a:t>Learns visual + temporal patterns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7608" y="2633472"/>
            <a:ext cx="502920" cy="347472"/>
          </a:xfrm>
          <a:prstGeom prst="rightArrow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2331720" cy="1920240"/>
          </a:xfrm>
          <a:prstGeom prst="roundRect">
            <a:avLst/>
          </a:prstGeom>
          <a:solidFill>
            <a:srgbClr val="EBF3F7"/>
          </a:solidFill>
          <a:ln>
            <a:solidFill>
              <a:srgbClr val="CB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95160" y="2148840"/>
            <a:ext cx="1143000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2185416"/>
            <a:ext cx="10881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OAUTHC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1874519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0C1B2A"/>
                </a:solidFill>
                <a:latin typeface="Aptos"/>
              </a:rPr>
              <a:t>Clinically annotated local videos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87968" y="2633472"/>
            <a:ext cx="502920" cy="347472"/>
          </a:xfrm>
          <a:prstGeom prst="rightArrow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81160" y="1874519"/>
            <a:ext cx="2331720" cy="1920240"/>
          </a:xfrm>
          <a:prstGeom prst="roundRect">
            <a:avLst/>
          </a:prstGeom>
          <a:solidFill>
            <a:srgbClr val="EBF3F7"/>
          </a:solidFill>
          <a:ln>
            <a:solidFill>
              <a:srgbClr val="CB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75520" y="2148840"/>
            <a:ext cx="1143000" cy="43891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02952" y="2185416"/>
            <a:ext cx="108813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AFCFD"/>
                </a:solidFill>
                <a:latin typeface="Aptos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88920"/>
            <a:ext cx="1874519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0C1B2A"/>
                </a:solidFill>
                <a:latin typeface="Aptos"/>
              </a:rPr>
              <a:t>Where and why does it fail?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4800600"/>
            <a:ext cx="9738360" cy="77724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4983480"/>
            <a:ext cx="91897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FAFCFD"/>
                </a:solidFill>
                <a:latin typeface="Aptos"/>
              </a:rPr>
              <a:t>The question is transfer: does a model trained elsewhere understand our operations?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MODEL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TeCNO already reasons across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cno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95029"/>
            <a:ext cx="7680960" cy="35422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63040"/>
            <a:ext cx="2971800" cy="416052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0" y="1783080"/>
            <a:ext cx="2331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100" b="1">
                <a:solidFill>
                  <a:srgbClr val="14B8DC"/>
                </a:solidFill>
                <a:latin typeface="Aptos"/>
              </a:rPr>
              <a:t>In plain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423160"/>
            <a:ext cx="2331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AFCFD"/>
                </a:solidFill>
                <a:latin typeface="Aptos"/>
              </a:defRPr>
            </a:pPr>
            <a:r>
              <a:t>•  extract visual information from frames</a:t>
            </a:r>
          </a:p>
          <a:p>
            <a:pPr>
              <a:spcAft>
                <a:spcPts val="1200"/>
              </a:spcAft>
              <a:defRPr sz="1600">
                <a:solidFill>
                  <a:srgbClr val="FAFCFD"/>
                </a:solidFill>
                <a:latin typeface="Aptos"/>
              </a:defRPr>
            </a:pPr>
            <a:r>
              <a:t>•  look across preceding frames</a:t>
            </a:r>
          </a:p>
          <a:p>
            <a:pPr>
              <a:spcAft>
                <a:spcPts val="1200"/>
              </a:spcAft>
              <a:defRPr sz="1600">
                <a:solidFill>
                  <a:srgbClr val="FAFCFD"/>
                </a:solidFill>
                <a:latin typeface="Aptos"/>
              </a:defRPr>
            </a:pPr>
            <a:r>
              <a:t>•  refine phase predictions in stages</a:t>
            </a:r>
          </a:p>
          <a:p>
            <a:pPr>
              <a:spcAft>
                <a:spcPts val="1200"/>
              </a:spcAft>
              <a:defRPr sz="1600">
                <a:solidFill>
                  <a:srgbClr val="FAFCFD"/>
                </a:solidFill>
                <a:latin typeface="Aptos"/>
              </a:defRPr>
            </a:pPr>
            <a:r>
              <a:t>•  produce a phase for each sampled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937760"/>
            <a:ext cx="23317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600" b="1">
                <a:solidFill>
                  <a:srgbClr val="FAFCFD"/>
                </a:solidFill>
                <a:latin typeface="Aptos"/>
              </a:rPr>
              <a:t>This is why the HMM may—or may not—add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698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800" b="0">
                <a:solidFill>
                  <a:srgbClr val="576F7E"/>
                </a:solidFill>
                <a:latin typeface="Aptos"/>
              </a:rPr>
              <a:t>Figure 1: Czempiel et al., TeCNO, MICCAI 2020, arXiv:2003.10751.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EXPLICIT WORKFLOW PROBABILITIES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What does the HMM add?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51560" cy="77724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55648" y="2103120"/>
            <a:ext cx="411480" cy="274320"/>
          </a:xfrm>
          <a:prstGeom prst="rightArrow">
            <a:avLst/>
          </a:prstGeom>
          <a:solidFill>
            <a:srgbClr val="7D97A7"/>
          </a:solidFill>
          <a:ln>
            <a:solidFill>
              <a:srgbClr val="7D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240280" y="1874519"/>
            <a:ext cx="1051560" cy="7772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55848" y="2103120"/>
            <a:ext cx="411480" cy="274320"/>
          </a:xfrm>
          <a:prstGeom prst="rightArrow">
            <a:avLst/>
          </a:prstGeom>
          <a:solidFill>
            <a:srgbClr val="7D97A7"/>
          </a:solidFill>
          <a:ln>
            <a:solidFill>
              <a:srgbClr val="7D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40480" y="1874519"/>
            <a:ext cx="1051560" cy="7772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56048" y="2103120"/>
            <a:ext cx="411480" cy="274320"/>
          </a:xfrm>
          <a:prstGeom prst="rightArrow">
            <a:avLst/>
          </a:prstGeom>
          <a:solidFill>
            <a:srgbClr val="7D97A7"/>
          </a:solidFill>
          <a:ln>
            <a:solidFill>
              <a:srgbClr val="7D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40680" y="1874519"/>
            <a:ext cx="1051560" cy="7772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06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P4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56248" y="2103120"/>
            <a:ext cx="411480" cy="274320"/>
          </a:xfrm>
          <a:prstGeom prst="rightArrow">
            <a:avLst/>
          </a:prstGeom>
          <a:solidFill>
            <a:srgbClr val="7D97A7"/>
          </a:solidFill>
          <a:ln>
            <a:solidFill>
              <a:srgbClr val="7D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40880" y="1874519"/>
            <a:ext cx="1051560" cy="77724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P5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156448" y="2103120"/>
            <a:ext cx="411480" cy="274320"/>
          </a:xfrm>
          <a:prstGeom prst="rightArrow">
            <a:avLst/>
          </a:prstGeom>
          <a:solidFill>
            <a:srgbClr val="7D97A7"/>
          </a:solidFill>
          <a:ln>
            <a:solidFill>
              <a:srgbClr val="7D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41080" y="1874519"/>
            <a:ext cx="1051560" cy="777240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P6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56648" y="2103120"/>
            <a:ext cx="411480" cy="274320"/>
          </a:xfrm>
          <a:prstGeom prst="rightArrow">
            <a:avLst/>
          </a:prstGeom>
          <a:solidFill>
            <a:srgbClr val="7D97A7"/>
          </a:solidFill>
          <a:ln>
            <a:solidFill>
              <a:srgbClr val="7D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41280" y="1874519"/>
            <a:ext cx="1051560" cy="7772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0" y="2020824"/>
            <a:ext cx="10515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800" b="1">
                <a:solidFill>
                  <a:srgbClr val="FAFCFD"/>
                </a:solidFill>
                <a:latin typeface="Aptos"/>
              </a:rPr>
              <a:t>P7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371600"/>
            <a:ext cx="18288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500" b="1">
                <a:solidFill>
                  <a:srgbClr val="576F7E"/>
                </a:solidFill>
                <a:latin typeface="Aptos"/>
              </a:rPr>
              <a:t>Common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246120"/>
            <a:ext cx="6720840" cy="1234440"/>
          </a:xfrm>
          <a:prstGeom prst="roundRect">
            <a:avLst/>
          </a:prstGeom>
          <a:solidFill>
            <a:srgbClr val="EBF3F7"/>
          </a:solidFill>
          <a:ln>
            <a:solidFill>
              <a:srgbClr val="C7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71800" y="3493008"/>
            <a:ext cx="251460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900" b="1">
                <a:solidFill>
                  <a:srgbClr val="0C1B2A"/>
                </a:solidFill>
                <a:latin typeface="Aptos"/>
              </a:rPr>
              <a:t>Same TeCNO probabilities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77840" y="3593592"/>
            <a:ext cx="731520" cy="320040"/>
          </a:xfrm>
          <a:prstGeom prst="rightArrow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383280"/>
            <a:ext cx="274320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900" b="1">
                <a:solidFill>
                  <a:srgbClr val="0C1B2A"/>
                </a:solidFill>
                <a:latin typeface="Aptos"/>
              </a:rPr>
              <a:t>HMM chooses the most plausible sequence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074920"/>
            <a:ext cx="10469880" cy="749808"/>
          </a:xfrm>
          <a:prstGeom prst="roundRect">
            <a:avLst/>
          </a:prstGeom>
          <a:solidFill>
            <a:srgbClr val="FFF6DC"/>
          </a:solidFill>
          <a:ln>
            <a:solidFill>
              <a:srgbClr val="EFC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266944"/>
            <a:ext cx="1001268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7E5300"/>
                </a:solidFill>
                <a:latin typeface="Aptos"/>
              </a:rPr>
              <a:t>Important: transitions are probabilities, not rules. Unusual OAUTHC workflows must remain possible.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TECNO VERSUS TECNO + HMM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The controlled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834640" cy="3474720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2103120" cy="10058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500" b="1">
                <a:solidFill>
                  <a:srgbClr val="FAFCFD"/>
                </a:solidFill>
                <a:latin typeface="Aptos"/>
              </a:rPr>
              <a:t>One set of TeCNO
class probabilities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2057400"/>
            <a:ext cx="685800" cy="365760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3931920" y="3886200"/>
            <a:ext cx="685800" cy="36576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92040" y="1417320"/>
            <a:ext cx="2834640" cy="1600200"/>
          </a:xfrm>
          <a:prstGeom prst="roundRect">
            <a:avLst/>
          </a:prstGeom>
          <a:solidFill>
            <a:srgbClr val="EBF4FE"/>
          </a:solidFill>
          <a:ln>
            <a:solidFill>
              <a:srgbClr val="B2C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737360"/>
            <a:ext cx="210312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3B82F6"/>
                </a:solidFill>
                <a:latin typeface="Aptos"/>
              </a:rPr>
              <a:t>TeCNO's most likely
phase at each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429000"/>
            <a:ext cx="2834640" cy="1600200"/>
          </a:xfrm>
          <a:prstGeom prst="roundRect">
            <a:avLst/>
          </a:prstGeom>
          <a:solidFill>
            <a:srgbClr val="E8F8F3"/>
          </a:solidFill>
          <a:ln>
            <a:solidFill>
              <a:srgbClr val="A7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3749039"/>
            <a:ext cx="210312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Aptos"/>
              </a:rPr>
              <a:t>HMM Viterbi
decoding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154680" cy="3246120"/>
          </a:xfrm>
          <a:prstGeom prst="roundRect">
            <a:avLst/>
          </a:prstGeom>
          <a:solidFill>
            <a:srgbClr val="EBF3F7"/>
          </a:solidFill>
          <a:ln>
            <a:solidFill>
              <a:srgbClr val="CB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1874519"/>
            <a:ext cx="233172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100" b="1">
                <a:solidFill>
                  <a:srgbClr val="0C1B2A"/>
                </a:solidFill>
                <a:latin typeface="Aptos"/>
              </a:rPr>
              <a:t>We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23160"/>
            <a:ext cx="2240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2A36"/>
                </a:solidFill>
                <a:latin typeface="Aptos"/>
              </a:defRPr>
            </a:pPr>
            <a:r>
              <a:t>•  accuracy and macro-F1</a:t>
            </a:r>
          </a:p>
          <a:p>
            <a:pPr>
              <a:spcAft>
                <a:spcPts val="1200"/>
              </a:spcAft>
              <a:defRPr sz="1500">
                <a:solidFill>
                  <a:srgbClr val="1A2A36"/>
                </a:solidFill>
                <a:latin typeface="Aptos"/>
              </a:defRPr>
            </a:pPr>
            <a:r>
              <a:t>•  each phase</a:t>
            </a:r>
          </a:p>
          <a:p>
            <a:pPr>
              <a:spcAft>
                <a:spcPts val="1200"/>
              </a:spcAft>
              <a:defRPr sz="1500">
                <a:solidFill>
                  <a:srgbClr val="1A2A36"/>
                </a:solidFill>
                <a:latin typeface="Aptos"/>
              </a:defRPr>
            </a:pPr>
            <a:r>
              <a:t>•  boundary timing</a:t>
            </a:r>
          </a:p>
          <a:p>
            <a:pPr>
              <a:spcAft>
                <a:spcPts val="1200"/>
              </a:spcAft>
              <a:defRPr sz="1500">
                <a:solidFill>
                  <a:srgbClr val="1A2A36"/>
                </a:solidFill>
                <a:latin typeface="Aptos"/>
              </a:defRPr>
            </a:pPr>
            <a:r>
              <a:t>•  fragmentation</a:t>
            </a:r>
          </a:p>
          <a:p>
            <a:pPr>
              <a:spcAft>
                <a:spcPts val="1200"/>
              </a:spcAft>
              <a:defRPr sz="1500">
                <a:solidFill>
                  <a:srgbClr val="1A2A36"/>
                </a:solidFill>
                <a:latin typeface="Aptos"/>
              </a:defRPr>
            </a:pPr>
            <a:r>
              <a:t>•  harm to unusual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60720"/>
            <a:ext cx="100584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14B8DC"/>
                </a:solidFill>
                <a:latin typeface="Aptos"/>
              </a:rPr>
              <a:t>The HMM is useful only if the evidence says 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Decisions and next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530352" cy="53035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47548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FAFCF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25880"/>
            <a:ext cx="9418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Confirm the P1 → P2 task-based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67128"/>
            <a:ext cx="530352" cy="53035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47548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FAFCFD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67128"/>
            <a:ext cx="9418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Agree how to label long inactive periods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08376"/>
            <a:ext cx="530352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054096"/>
            <a:ext cx="47548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FAFCFD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08376"/>
            <a:ext cx="9418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Agree when Undefined should be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9624"/>
            <a:ext cx="530352" cy="53035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895344"/>
            <a:ext cx="47548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FAFCFD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49624"/>
            <a:ext cx="9418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Confirm the shared-five agreement exercise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690872"/>
            <a:ext cx="530352" cy="530352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736592"/>
            <a:ext cx="47548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700" b="1">
                <a:solidFill>
                  <a:srgbClr val="FAFCFD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90872"/>
            <a:ext cx="9418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C1B2A"/>
                </a:solidFill>
                <a:latin typeface="Aptos"/>
              </a:rPr>
              <a:t>Confirm the 10, 10 and 6 return batches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715000"/>
            <a:ext cx="10241280" cy="566928"/>
          </a:xfrm>
          <a:prstGeom prst="roundRect">
            <a:avLst/>
          </a:prstGeom>
          <a:solidFill>
            <a:srgbClr val="0C1B2A"/>
          </a:solidFill>
          <a:ln>
            <a:solidFill>
              <a:srgbClr val="0C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815584"/>
            <a:ext cx="978408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FAFCFD"/>
                </a:solidFill>
                <a:latin typeface="Aptos"/>
              </a:rPr>
              <a:t>The quality of the AI study begins with the quality and clarity of the clinical annotation.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000" b="1">
                <a:solidFill>
                  <a:srgbClr val="14B8DC"/>
                </a:solidFill>
                <a:latin typeface="Aptos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C1B2A"/>
                </a:solidFill>
                <a:latin typeface="Aptos"/>
              </a:rP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914400" cy="50292"/>
          </a:xfrm>
          <a:prstGeom prst="rect">
            <a:avLst/>
          </a:prstGeom>
          <a:solidFill>
            <a:srgbClr val="14B8DC"/>
          </a:solidFill>
          <a:ln>
            <a:solidFill>
              <a:srgbClr val="14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3657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4B8DC"/>
                </a:solidFill>
                <a:latin typeface="Aptos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tos"/>
              </a:rPr>
              <a:t>Czempiel T et al. TeCNO: Surgical Phase Recognition with Multi-Stage Temporal Convolutional Networks. MICCAI 2020. arXiv:2003.10751.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3657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4B8DC"/>
                </a:solidFill>
                <a:latin typeface="Aptos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39112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tos"/>
              </a:rPr>
              <a:t>Ramesh S et al. Surgical Phase Recognition: From Public Datasets to Real-World Data. Applied Sciences. 2022;12:8746. DOI: 10.3390/app12178746.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3657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4B8DC"/>
                </a:solidFill>
                <a:latin typeface="Aptos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43784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tos"/>
              </a:rPr>
              <a:t>Golany T et al. Artificial intelligence for phase recognition in complex laparoscopic cholecystectomy. Surgical Endoscopy. 2022;36:9215–9223. DOI: 10.1007/s00464-022-09405-5.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48456"/>
            <a:ext cx="3657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4B8DC"/>
                </a:solidFill>
                <a:latin typeface="Aptos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48456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tos"/>
              </a:rPr>
              <a:t>Twinanda AP et al. EndoNet: A Deep Architecture for Recognition Tasks on Laparoscopic Videos. IEEE TMI. 2017;36:86–97.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53128"/>
            <a:ext cx="3657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4B8DC"/>
                </a:solidFill>
                <a:latin typeface="Aptos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53128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tos"/>
              </a:rPr>
              <a:t>Hashimoto DA et al. Machine Learning for Surgical Phase Recognition. Annals of Surgery. 2022;275:846–855.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3657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14B8DC"/>
                </a:solidFill>
                <a:latin typeface="Aptos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tos"/>
              </a:rPr>
              <a:t>Mascagni P et al. Computer vision in surgery: from potential to clinical value. npj Digital Medicine. 2022;5:163.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72200"/>
            <a:ext cx="102412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ctr"/>
            <a:r>
              <a:rPr sz="1100" b="0">
                <a:solidFill>
                  <a:srgbClr val="576F7E"/>
                </a:solidFill>
                <a:latin typeface="Aptos"/>
              </a:rPr>
              <a:t>Borrowed figures are cited on their slides. The complexity chart was redrawn from published values for legibility.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r"/>
            <a:r>
              <a:rPr sz="900" b="0">
                <a:solidFill>
                  <a:srgbClr val="576F7E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1861</Words>
  <Application>Microsoft Office PowerPoint</Application>
  <PresentationFormat>Widescreen</PresentationFormat>
  <Paragraphs>338</Paragraphs>
  <Slides>28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OLUWATOSIN ALABI</cp:lastModifiedBy>
  <cp:revision>3</cp:revision>
  <dcterms:created xsi:type="dcterms:W3CDTF">2013-01-27T09:14:16Z</dcterms:created>
  <dcterms:modified xsi:type="dcterms:W3CDTF">2026-10-17T09:38:50Z</dcterms:modified>
  <cp:category/>
</cp:coreProperties>
</file>